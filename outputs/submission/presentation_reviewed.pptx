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1b4b979d024ccf" /><Relationship Type="http://schemas.openxmlformats.org/officeDocument/2006/relationships/extended-properties" Target="/docProps/app.xml" Id="Rf2375a3a3c0d4eb3" /><Relationship Type="http://schemas.openxmlformats.org/officeDocument/2006/relationships/officeDocument" Target="/ppt/presentation.xml" Id="Reb4015aac4074e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908d5a4dc04263"/>
  </p:sldMasterIdLst>
  <p:notesMasterIdLst>
    <p:notesMasterId xmlns:r="http://schemas.openxmlformats.org/officeDocument/2006/relationships" r:id="R248d053029784c9c"/>
  </p:notesMasterIdLst>
  <p:sldIdLst>
    <p:sldId xmlns:r="http://schemas.openxmlformats.org/officeDocument/2006/relationships" id="256" r:id="R9560f7da4f1849f9"/>
    <p:sldId xmlns:r="http://schemas.openxmlformats.org/officeDocument/2006/relationships" id="257" r:id="Rf0a3393011d441b0"/>
    <p:sldId xmlns:r="http://schemas.openxmlformats.org/officeDocument/2006/relationships" id="258" r:id="R0890d859e9654cfd"/>
    <p:sldId xmlns:r="http://schemas.openxmlformats.org/officeDocument/2006/relationships" id="259" r:id="R70e9d7d276374989"/>
    <p:sldId xmlns:r="http://schemas.openxmlformats.org/officeDocument/2006/relationships" id="260" r:id="Ra018dc254978445a"/>
    <p:sldId xmlns:r="http://schemas.openxmlformats.org/officeDocument/2006/relationships" id="261" r:id="R0f8ea64748b44606"/>
    <p:sldId xmlns:r="http://schemas.openxmlformats.org/officeDocument/2006/relationships" id="262" r:id="Rab0d413095fe40e5"/>
    <p:sldId xmlns:r="http://schemas.openxmlformats.org/officeDocument/2006/relationships" id="263" r:id="Rbe47b7c632fc4be6"/>
    <p:sldId xmlns:r="http://schemas.openxmlformats.org/officeDocument/2006/relationships" id="264" r:id="Rc766f8c3d4b64c68"/>
    <p:sldId xmlns:r="http://schemas.openxmlformats.org/officeDocument/2006/relationships" id="265" r:id="R3e268f8d1eab4d28"/>
    <p:sldId xmlns:r="http://schemas.openxmlformats.org/officeDocument/2006/relationships" id="266" r:id="R10fb3182cdd246fb"/>
    <p:sldId xmlns:r="http://schemas.openxmlformats.org/officeDocument/2006/relationships" id="267" r:id="R87f0ddbe711a4c6f"/>
    <p:sldId xmlns:r="http://schemas.openxmlformats.org/officeDocument/2006/relationships" id="268" r:id="Rf6ce30a4ccef481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5ac9250e9c64ed4" /><Relationship Type="http://schemas.openxmlformats.org/officeDocument/2006/relationships/slideMaster" Target="/ppt/slideMasters/slideMaster1.xml" Id="Ra7908d5a4dc04263" /><Relationship Type="http://schemas.openxmlformats.org/officeDocument/2006/relationships/notesMaster" Target="/ppt/notesMasters/notesMaster1.xml" Id="R248d053029784c9c" /><Relationship Type="http://schemas.openxmlformats.org/officeDocument/2006/relationships/presProps" Target="/ppt/presProps.xml" Id="R74662d45b2d04987" /><Relationship Type="http://schemas.openxmlformats.org/officeDocument/2006/relationships/tableStyles" Target="/ppt/tableStyles.xml" Id="R182fa156ff75427d" /><Relationship Type="http://schemas.openxmlformats.org/officeDocument/2006/relationships/slide" Target="/ppt/slides/slide1.xml" Id="R9560f7da4f1849f9" /><Relationship Type="http://schemas.openxmlformats.org/officeDocument/2006/relationships/slide" Target="/ppt/slides/slide2.xml" Id="Rf0a3393011d441b0" /><Relationship Type="http://schemas.openxmlformats.org/officeDocument/2006/relationships/slide" Target="/ppt/slides/slide3.xml" Id="R0890d859e9654cfd" /><Relationship Type="http://schemas.openxmlformats.org/officeDocument/2006/relationships/slide" Target="/ppt/slides/slide4.xml" Id="R70e9d7d276374989" /><Relationship Type="http://schemas.openxmlformats.org/officeDocument/2006/relationships/slide" Target="/ppt/slides/slide5.xml" Id="Ra018dc254978445a" /><Relationship Type="http://schemas.openxmlformats.org/officeDocument/2006/relationships/slide" Target="/ppt/slides/slide6.xml" Id="R0f8ea64748b44606" /><Relationship Type="http://schemas.openxmlformats.org/officeDocument/2006/relationships/slide" Target="/ppt/slides/slide7.xml" Id="Rab0d413095fe40e5" /><Relationship Type="http://schemas.openxmlformats.org/officeDocument/2006/relationships/slide" Target="/ppt/slides/slide8.xml" Id="Rbe47b7c632fc4be6" /><Relationship Type="http://schemas.openxmlformats.org/officeDocument/2006/relationships/slide" Target="/ppt/slides/slide9.xml" Id="Rc766f8c3d4b64c68" /><Relationship Type="http://schemas.openxmlformats.org/officeDocument/2006/relationships/slide" Target="/ppt/slides/slide10.xml" Id="R3e268f8d1eab4d28" /><Relationship Type="http://schemas.openxmlformats.org/officeDocument/2006/relationships/slide" Target="/ppt/slides/slide11.xml" Id="R10fb3182cdd246fb" /><Relationship Type="http://schemas.openxmlformats.org/officeDocument/2006/relationships/slide" Target="/ppt/slides/slide12.xml" Id="R87f0ddbe711a4c6f" /><Relationship Type="http://schemas.openxmlformats.org/officeDocument/2006/relationships/slide" Target="/ppt/slides/slide13.xml" Id="Rf6ce30a4ccef481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1a222808c442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bb9f03c931c437a" /><Relationship Type="http://schemas.openxmlformats.org/officeDocument/2006/relationships/notesMaster" Target="/ppt/notesMasters/notesMaster1.xml" Id="Rebe6b823770544b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919cf9e53240a5" /><Relationship Type="http://schemas.openxmlformats.org/officeDocument/2006/relationships/notesMaster" Target="/ppt/notesMasters/notesMaster1.xml" Id="Rbf4ea257b22a47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3384a690314ada" /><Relationship Type="http://schemas.openxmlformats.org/officeDocument/2006/relationships/notesMaster" Target="/ppt/notesMasters/notesMaster1.xml" Id="R53b7639a7d5d48a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907d5d926db459e" /><Relationship Type="http://schemas.openxmlformats.org/officeDocument/2006/relationships/notesMaster" Target="/ppt/notesMasters/notesMaster1.xml" Id="Ra3be0f1d041448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a26e37ea7f5493a" /><Relationship Type="http://schemas.openxmlformats.org/officeDocument/2006/relationships/notesMaster" Target="/ppt/notesMasters/notesMaster1.xml" Id="R7e28a15b0dd847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628c5e5231c4d79" /><Relationship Type="http://schemas.openxmlformats.org/officeDocument/2006/relationships/notesMaster" Target="/ppt/notesMasters/notesMaster1.xml" Id="R62a26e0187134d1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b344e6fced466f" /><Relationship Type="http://schemas.openxmlformats.org/officeDocument/2006/relationships/notesMaster" Target="/ppt/notesMasters/notesMaster1.xml" Id="R8318198bde3a40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37e2b3e16fd4106" /><Relationship Type="http://schemas.openxmlformats.org/officeDocument/2006/relationships/notesMaster" Target="/ppt/notesMasters/notesMaster1.xml" Id="R08c075be5742420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55e780e5314db8" /><Relationship Type="http://schemas.openxmlformats.org/officeDocument/2006/relationships/notesMaster" Target="/ppt/notesMasters/notesMaster1.xml" Id="R0cf6f6c74729475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29d25955fc4323" /><Relationship Type="http://schemas.openxmlformats.org/officeDocument/2006/relationships/notesMaster" Target="/ppt/notesMasters/notesMaster1.xml" Id="R53b6baf7acfc4c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2e20a49b4c4a3d" /><Relationship Type="http://schemas.openxmlformats.org/officeDocument/2006/relationships/notesMaster" Target="/ppt/notesMasters/notesMaster1.xml" Id="R025a70976a3d4d5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32d189a44e74815" /><Relationship Type="http://schemas.openxmlformats.org/officeDocument/2006/relationships/notesMaster" Target="/ppt/notesMasters/notesMaster1.xml" Id="Rbb7b770ae4624a3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18f214dd9d04d69" /><Relationship Type="http://schemas.openxmlformats.org/officeDocument/2006/relationships/notesMaster" Target="/ppt/notesMasters/notesMaster1.xml" Id="Raf52371096294f8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과제 ⑤ | 일반국민·대학(원)생 부문 | 연구 초안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공식 기준: https://www.kamp-ai.kr/contestNoticeDetail?CPT_NOTICE_SEQ=28 . 보고서 6개 장과 docs/EVALUATION_TRACEABILITY.md 참조.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증거: outputs/data_audit.json, research_v4/pattern_overlap.csv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증거: check_peak_study.py · 미래 원자료 교란 시 특징 불변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outputs/research_v4/benchmark_scores.csv · 원자료 단위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4~6월 91일 · 평균곡선은 유지 · H6 고정 0.5 결합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outputs/peak_v4/H6/scores.csv · 4~6월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7/13·7/15 제외 29일 · 사후 진단, 설정 변경 없음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사후 연관성 분석 · 실제 미래 기온·생산량은 입력에 미사용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고정 이동비율10% / ±60분 · 실제 운영 검증이 아닌 조건부 계산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outputs/peak_v3/simulation/example_series.csv.gz · 원자료 단위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공식 요금: 기후에너지환경부·한전 2026-03-13 붙임2 8쪽 https://www.mcee.go.kr/home/file/readDownloadFile.do?fileId=319782&amp;fileSeq=2 . 근로기준법56조 https://law.go.kr/LSW/lsLinkCommonInfo.do?chrClsCd=010202&amp;lsJoLnkSeq=1007688483 . 경제성은 사후 조건부 비교.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코드·전체 지표·실패·재현 명령은 제출 ZIP에 포함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fd401c63f470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e81ff2a34a4877" /><Relationship Type="http://schemas.openxmlformats.org/officeDocument/2006/relationships/slideLayout" Target="/ppt/slideLayouts/slideLayout1.xml" Id="R6ee63bc1e180461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e63bc1e180461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597020665b4c7f" /><Relationship Type="http://schemas.openxmlformats.org/officeDocument/2006/relationships/notesSlide" Target="/ppt/notesSlides/notesSlide1.xml" Id="Rff178e1a580346e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53249544c4d14" /><Relationship Type="http://schemas.openxmlformats.org/officeDocument/2006/relationships/notesSlide" Target="/ppt/notesSlides/notesSlide2.xml" Id="R3a0a1a7b66ad4c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1d4ebbe2af4ace" /><Relationship Type="http://schemas.openxmlformats.org/officeDocument/2006/relationships/notesSlide" Target="/ppt/notesSlides/notesSlide3.xml" Id="Rf25a3f9eda2043a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310afdbcb45c8" /><Relationship Type="http://schemas.openxmlformats.org/officeDocument/2006/relationships/notesSlide" Target="/ppt/notesSlides/notesSlide4.xml" Id="R6dc59cc9064841e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8b923179ab48da" /><Relationship Type="http://schemas.openxmlformats.org/officeDocument/2006/relationships/notesSlide" Target="/ppt/notesSlides/notesSlide5.xml" Id="Ra02296b3ee774b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663c4814514893" /><Relationship Type="http://schemas.openxmlformats.org/officeDocument/2006/relationships/chart" Target="/ppt/slides/charts/chart1.xml" Id="R3f3fcb4fa28c4771" /><Relationship Type="http://schemas.openxmlformats.org/officeDocument/2006/relationships/chart" Target="/ppt/slides/charts/chart2.xml" Id="R3ade0b31fad64942" /><Relationship Type="http://schemas.openxmlformats.org/officeDocument/2006/relationships/notesSlide" Target="/ppt/notesSlides/notesSlide6.xml" Id="Re3acc37abb1a40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3fabda7a64f4d" /><Relationship Type="http://schemas.openxmlformats.org/officeDocument/2006/relationships/notesSlide" Target="/ppt/notesSlides/notesSlide7.xml" Id="Rae786ad310734e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5c596e0a034162" /><Relationship Type="http://schemas.openxmlformats.org/officeDocument/2006/relationships/notesSlide" Target="/ppt/notesSlides/notesSlide8.xml" Id="R00b39a12a0f1491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73879abbbb44d1" /><Relationship Type="http://schemas.openxmlformats.org/officeDocument/2006/relationships/notesSlide" Target="/ppt/notesSlides/notesSlide9.xml" Id="Rbcfb7562b8654f1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8dd69b5b54c87" /><Relationship Type="http://schemas.openxmlformats.org/officeDocument/2006/relationships/notesSlide" Target="/ppt/notesSlides/notesSlide10.xml" Id="Rf922af82e12b425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5ea23342fe4475" /><Relationship Type="http://schemas.openxmlformats.org/officeDocument/2006/relationships/notesSlide" Target="/ppt/notesSlides/notesSlide11.xml" Id="R04214a413c004a9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930fb3b814a52" /><Relationship Type="http://schemas.openxmlformats.org/officeDocument/2006/relationships/notesSlide" Target="/ppt/notesSlides/notesSlide12.xml" Id="R49fa6300eeb543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b439167c164caf" /><Relationship Type="http://schemas.openxmlformats.org/officeDocument/2006/relationships/notesSlide" Target="/ppt/notesSlides/notesSlide13.xml" Id="R0f2d44f327fc4fa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latin typeface="Malgun Gothic"/>
                <a:ea typeface="Malgun Gothic"/>
                <a:cs typeface="Malgun Gothic"/>
              </a:rPr>
              <a:t>15분 평균 MAE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Malgun Gothic"/>
              <a:ea typeface="Malgun Gothic"/>
              <a:cs typeface="Malgun Gothi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15분 평균 MAE</c:v>
          </c:tx>
          <c:spPr>
            <a:solidFill xmlns:a="http://schemas.openxmlformats.org/drawingml/2006/main">
              <a:srgbClr val="1D647F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latin typeface="Malgun Gothic"/>
                        <a:ea typeface="Malgun Gothic"/>
                        <a:cs typeface="Malgun Gothic"/>
                      </a:rPr>
                      <a:t>19.08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latin typeface="Malgun Gothic"/>
                      <a:ea typeface="Malgun Gothic"/>
                      <a:cs typeface="Malgun Gothi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latin typeface="Malgun Gothic"/>
                        <a:ea typeface="Malgun Gothic"/>
                        <a:cs typeface="Malgun Gothic"/>
                      </a:rPr>
                      <a:t>16.91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latin typeface="Malgun Gothic"/>
                      <a:ea typeface="Malgun Gothic"/>
                      <a:cs typeface="Malgun Gothi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Data'!$A$2:$A$3</c:f>
              <c:strCache>
                <c:ptCount val="2"/>
                <c:pt idx="0">
                  <c:v>전주 기준</c:v>
                </c:pt>
                <c:pt idx="1">
                  <c:v>최종 구간 결합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19.083333</c:v>
                </c:pt>
                <c:pt idx="1">
                  <c:v>16.910845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5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latin typeface="Malgun Gothic"/>
                <a:ea typeface="Malgun Gothic"/>
                <a:cs typeface="Malgun Gothic"/>
              </a:rPr>
              <a:t>일최대 MAE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latin typeface="Malgun Gothic"/>
              <a:ea typeface="Malgun Gothic"/>
              <a:cs typeface="Malgun Gothic"/>
            </a:defRPr>
          </a:pPr>
        </a:p>
      </c:txPr>
    </c:title>
    <c:plotArea>
      <c:barChart>
        <c:barDir val="col"/>
        <c:grouping val="clustered"/>
        <c:varyColors val="0"/>
        <c:ser>
          <c:idx val="0"/>
          <c:order val="0"/>
          <c:tx>
            <c:v>일최대 MAE</c:v>
          </c:tx>
          <c:spPr>
            <a:solidFill xmlns:a="http://schemas.openxmlformats.org/drawingml/2006/main">
              <a:srgbClr val="1D647F"/>
            </a:solidFill>
          </c:spPr>
          <c:dLbls>
            <c:dLbl>
              <c:idx val="0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latin typeface="Malgun Gothic"/>
                        <a:ea typeface="Malgun Gothic"/>
                        <a:cs typeface="Malgun Gothic"/>
                      </a:rPr>
                      <a:t>18.92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latin typeface="Malgun Gothic"/>
                      <a:ea typeface="Malgun Gothic"/>
                      <a:cs typeface="Malgun Gothi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latin typeface="Malgun Gothic"/>
                        <a:ea typeface="Malgun Gothic"/>
                        <a:cs typeface="Malgun Gothic"/>
                      </a:rPr>
                      <a:t>19.99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latin typeface="Malgun Gothic"/>
                      <a:ea typeface="Malgun Gothic"/>
                      <a:cs typeface="Malgun Gothi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tx>
                <c:rich>
                  <a:bodyPr xmlns:a="http://schemas.openxmlformats.org/drawingml/2006/main"/>
                  <a:lstStyle xmlns:a="http://schemas.openxmlformats.org/drawingml/2006/main"/>
                  <a:p xmlns:a="http://schemas.openxmlformats.org/drawingml/2006/main">
                    <a:r>
                      <a:rPr sz="1500">
                        <a:latin typeface="Malgun Gothic"/>
                        <a:ea typeface="Malgun Gothic"/>
                        <a:cs typeface="Malgun Gothic"/>
                      </a:rPr>
                      <a:t>17.77</a:t>
                    </a:r>
                  </a:p>
                </c:rich>
              </c:tx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500">
                      <a:latin typeface="Malgun Gothic"/>
                      <a:ea typeface="Malgun Gothic"/>
                      <a:cs typeface="Malgun Gothic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</c:dLbls>
          <c:cat>
            <c:strRef>
              <c:f>'Chart Data'!$A$2:$A$4</c:f>
              <c:strCache>
                <c:ptCount val="3"/>
                <c:pt idx="0">
                  <c:v>전주 기준</c:v>
                </c:pt>
                <c:pt idx="1">
                  <c:v>곡선 최대</c:v>
                </c:pt>
                <c:pt idx="2">
                  <c:v>별도 최대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18.923077</c:v>
                </c:pt>
                <c:pt idx="1">
                  <c:v>19.992784</c:v>
                </c:pt>
                <c:pt idx="2">
                  <c:v>17.771216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algun Gothic"/>
                  <a:ea typeface="Malgun Gothic"/>
                  <a:cs typeface="Malgun Gothi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25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5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D838AE-515D-4A4A-9346-6BE2E498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평균 전력과 일최대 위험을 함께 예측하다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0BA0EF-CA59-4531-B53C-1E0FB8D28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1   과제 ⑤ | 일반국민·대학(원)생 부문 | 연구 초안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15228B-E8D2-4B44-B4B1-3DC8C2DB0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71650"/>
            <a:ext cx="10668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생산기록 문맥을 활용한 15분 예측과</a:t>
            </a:r>
          </a:p>
          <a:p xmlns:a="http://schemas.openxmlformats.org/drawingml/2006/main">
            <a:pPr>
              <a:defRPr sz="36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별도 일최대 추정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B6DD56-B2E4-4656-8C5B-95916B47A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76650"/>
            <a:ext cx="10001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4~6월 평균 MAE 11.4% 감소</a:t>
            </a:r>
          </a:p>
          <a:p xmlns:a="http://schemas.openxmlformats.org/drawingml/2006/main">
            <a:pPr>
              <a:defRPr sz="285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별도 일최대 MAE 6.1% 감소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D8B849-42DA-4E10-8DCC-375A7DAB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전주 기준 대비 관측값 · 새 독립기간의 우위는 미확정</a:t>
            </a:r>
          </a:p>
        </p:txBody>
      </p:sp>
    </p:spTree>
    <p:extLst>
      <p:ext uri="{BB962C8B-B14F-4D97-AF65-F5344CB8AC3E}">
        <p14:creationId xmlns:p14="http://schemas.microsoft.com/office/powerpoint/2010/main" val="16144320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47013F-F6C7-47E7-88FF-330054CA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공식 과제의 세 질문에 답한다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366CB-AB03-411D-AB88-E342AC44E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2   출처: KAMP 2026-09-22 수정 공지, 과제⑤ 및 서면평가표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BD121-EE12-4B13-A12C-4F69AE8EB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1. 다음 날 전력사용량을 얼마나 잘 예측하는가?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D0E18-273C-4B5A-9F75-1BFB4262E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2. 언제 오차가 크고, 언제 최대피크가 발생하는가?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04A6E-1411-49D6-85B4-90B033F5E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3. 생산 제약을 지키며 부하를 옮기면 어떤 결과가 나는가?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A6D692-6CED-434C-B1F3-5B16685C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054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평가 배점 15 / 40 / 15 / 10 / 10 / 10점에 맞춰 증거를 연결</a:t>
            </a:r>
          </a:p>
        </p:txBody>
      </p:sp>
    </p:spTree>
    <p:extLst>
      <p:ext uri="{BB962C8B-B14F-4D97-AF65-F5344CB8AC3E}">
        <p14:creationId xmlns:p14="http://schemas.microsoft.com/office/powerpoint/2010/main" val="31441177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D2053E-42A3-4CA2-A922-9ABE3B2E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데이터의 반복과 계측 한계를 먼저 확인했다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2D948F-570C-491E-8998-2B25A6781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3   증거: outputs/data_audit.json, research_v4/pattern_overlap.csv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24000"/>
          <a:ext xmlns:a="http://schemas.openxmlformats.org/drawingml/2006/main" cx="10972800" cy="3381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3905250"/>
                <a:gridCol w="4400550"/>
              </a:tblGrid>
              <a:tr h="6762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계측 범위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검증한 사실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해석의 한계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257일 / 6,168행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24,672개 15분 구간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전력 단위는 미확인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142개 고유 일패턴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160일이 반복 그룹에 포함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독립 표본 가정에 주의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7/13·7/15 시간 오류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2일 정답·전력 이력 제외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행 순서 복원은 가정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6762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생산·공장인원 기록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시간 단위, 인원 소수값 존재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설비 가동·이동 가능성 미확인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6D280-F029-440F-9660-C5B77DBD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7685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공식 재다운로드 CSV와 원자료 SHA256 일치</a:t>
            </a:r>
          </a:p>
        </p:txBody>
      </p:sp>
    </p:spTree>
    <p:extLst>
      <p:ext uri="{BB962C8B-B14F-4D97-AF65-F5344CB8AC3E}">
        <p14:creationId xmlns:p14="http://schemas.microsoft.com/office/powerpoint/2010/main" val="11152287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B21DE3-8382-42E2-8E71-3DDA68F06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D-1 16시 이후의 실측 정보는 입력하지 않는다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037D84-CD11-4468-B56E-644019AA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4   증거: check_peak_study.py · 미래 원자료 교란 시 특징 불변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86400"/>
                <a:gridCol w="5486400"/>
              </a:tblGrid>
              <a:tr h="71437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가능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사용 금지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이미 끝난 전력 구간과 과거 생산 문맥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다음 날 실측 기온·생산량·전력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달력 / 2·7·14일 lag / 최근 통계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검증일 실제 생산상태로 전문가 선택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71437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4~6월 월별 expanding validation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7월 결과에 맞춘 설정 재조정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760884-0EBC-49A9-AB07-E6CB5785D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검증 91일 / 8,736구간 · 7월은 사후 진단 29일</a:t>
            </a:r>
          </a:p>
          <a:p xmlns:a="http://schemas.openxmlformats.org/drawingml/2006/main">
            <a:pPr>
              <a:defRPr sz="2025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8~9월은 이미 사용된 역사적 테스트이며 새 독립 검증이 아님</a:t>
            </a:r>
          </a:p>
        </p:txBody>
      </p:sp>
    </p:spTree>
    <p:extLst>
      <p:ext uri="{BB962C8B-B14F-4D97-AF65-F5344CB8AC3E}">
        <p14:creationId xmlns:p14="http://schemas.microsoft.com/office/powerpoint/2010/main" val="60048739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18078B-3D63-4B72-94CC-E4760574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같은 시간 조건에서 모델과 피처를 비교했다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D3E570-04C5-4CF4-97DB-C44EB32C9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5   출처: outputs/research_v4/benchmark_scores.csv · 원자료 단위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485900"/>
          <a:ext xmlns:a="http://schemas.openxmlformats.org/drawingml/2006/main" cx="10972800" cy="3943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71850"/>
                <a:gridCol w="2286000"/>
                <a:gridCol w="2286000"/>
                <a:gridCol w="3028950"/>
              </a:tblGrid>
              <a:tr h="56333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모델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평균 MAE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RMSE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곡선 일최대 MAE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전주 기준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19.083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37.978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18.923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Ridge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31.685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43.062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34.469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ExtraTrees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19.602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29.668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24.645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LGB 단일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20.265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32.840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24.056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상태 혼합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17.361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28.555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19.674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563336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구간 결합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16.911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33.011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19.993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7F203C-D02B-4381-842B-FC087792F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667375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과거 문맥과 상태 결합이 평균 예측에 기여했다</a:t>
            </a:r>
          </a:p>
        </p:txBody>
      </p:sp>
    </p:spTree>
    <p:extLst>
      <p:ext uri="{BB962C8B-B14F-4D97-AF65-F5344CB8AC3E}">
        <p14:creationId xmlns:p14="http://schemas.microsoft.com/office/powerpoint/2010/main" val="2397839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D8F421-7FD8-465A-ABCE-6D8E314B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평균 곡선과 일최대 추정의 역할을 분리했다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207E0-C90F-4B93-8C2A-F06BC7CCC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6   4~6월 91일 · 평균곡선은 유지 · H6 고정 0.5 결합</a:t>
            </a:r>
          </a:p>
        </p:txBody>
      </p:sp>
      <p:graphicFrame>
        <p:nvGraphicFramePr>
          <p:cNvPr id="9" name="Chart"/>
          <p:cNvGraphicFramePr/>
          <p:nvPr/>
        </p:nvGraphicFramePr>
        <p:xfrm>
          <a:off xmlns:a="http://schemas.openxmlformats.org/drawingml/2006/main" x="523875" y="1571625"/>
          <a:ext xmlns:a="http://schemas.openxmlformats.org/drawingml/2006/main" cx="52959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3fcb4fa28c4771"/>
          </a:graphicData>
        </a:graphic>
      </p:graphicFrame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191250" y="1571625"/>
          <a:ext xmlns:a="http://schemas.openxmlformats.org/drawingml/2006/main" cx="54292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ade0b31fad64942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99741E-3B3B-4A42-BF74-85AE1B35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38750"/>
            <a:ext cx="1066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별도 일최대 = (결합 곡선 최대 + 전주 곡선 최대) /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3E82EE-35A0-466A-AFF8-FCB72047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721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96구간 곡선의 최대값과 별도 출력은 서로 다를 수 있음</a:t>
            </a:r>
          </a:p>
        </p:txBody>
      </p:sp>
    </p:spTree>
    <p:extLst>
      <p:ext uri="{BB962C8B-B14F-4D97-AF65-F5344CB8AC3E}">
        <p14:creationId xmlns:p14="http://schemas.microsoft.com/office/powerpoint/2010/main" val="6210903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AED1E-E87B-4C5C-83BB-446F74BB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피크 탐지는 개선됐지만 전주 기준과 교환관계가 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CD62D4-192E-48B1-BDC5-5C32D3FCB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7   출처: outputs/peak_v4/H6/scores.csv · 4~6월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00200"/>
          <a:ext xmlns:a="http://schemas.openxmlformats.org/drawingml/2006/main" cx="10972800" cy="3238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00400"/>
                <a:gridCol w="2590800"/>
                <a:gridCol w="2590800"/>
                <a:gridCol w="2590800"/>
              </a:tblGrid>
              <a:tr h="6477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 단위 지표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전주 기준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결합 곡선 최대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별도 일최대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재현율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72.7%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29.5%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52.3%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정밀도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69.6%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68.4%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76.7%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0.711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0.413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0.622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미탐 / 오경보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 / 14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31 / 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21 / 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C89367-03AC-46CE-9601-F67CE207D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0668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4~6월 일최대 MAE 차이(별도-전주): -1.152</a:t>
            </a:r>
          </a:p>
          <a:p xmlns:a="http://schemas.openxmlformats.org/drawingml/2006/main">
            <a:pPr>
              <a:defRPr sz="195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95% bootstrap 구간 [-3.778, 0.991] · 통계적 우위 확정 불가</a:t>
            </a:r>
          </a:p>
        </p:txBody>
      </p:sp>
    </p:spTree>
    <p:extLst>
      <p:ext uri="{BB962C8B-B14F-4D97-AF65-F5344CB8AC3E}">
        <p14:creationId xmlns:p14="http://schemas.microsoft.com/office/powerpoint/2010/main" val="108446843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10DC5E-586E-41AB-B6BF-65F5A73E5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7월: 평균오차 감소와 피크 탐지를 함께 확인했다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AE6DE9-B75E-47D7-B093-AB2158B9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8   7/13·7/15 제외 29일 · 사후 진단, 설정 변경 없음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14800"/>
                <a:gridCol w="3429000"/>
                <a:gridCol w="3429000"/>
              </a:tblGrid>
              <a:tr h="619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7월 지표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전주 기준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최종 구성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15분 MAE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12.177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10.552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15분 RMSE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26.381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17.007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일최대 MAE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16.621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17.483 (별도 출력)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피크일 재현율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95.0%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95.0% (별도 출력)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구간 피크 재현율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63.8%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36.4% (곡선)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67360A-764D-4C2B-9EFE-AC69504C6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별도 출력은 기존 결합의 일최대 MAE 20.438을 낮췄다</a:t>
            </a:r>
          </a:p>
        </p:txBody>
      </p:sp>
    </p:spTree>
    <p:extLst>
      <p:ext uri="{BB962C8B-B14F-4D97-AF65-F5344CB8AC3E}">
        <p14:creationId xmlns:p14="http://schemas.microsoft.com/office/powerpoint/2010/main" val="8679850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272B34F-145C-46E4-AF95-2B3A0486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7월의 고온·생산기록·시간대가 오류와 함께 변했다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F833CD-A8C2-4F5F-97DA-571411B7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9   사후 연관성 분석 · 실제 미래 기온·생산량은 입력에 미사용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32194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19450"/>
                <a:gridCol w="3352800"/>
                <a:gridCol w="4400550"/>
              </a:tblGrid>
              <a:tr h="64389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조건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표본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관측 결과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30°C 초과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256구간 / 12일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MAE16.153, 편향 -11.090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생산기록 양수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1,764구간 / 24일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실제 피크442개 중437개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10~17시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812구간 / 29일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피크297개 중197개 미탐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64389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최근 기온 +2°C 초과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단1일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효과를 일반화할 근거 부족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C1E9E5-C40A-476C-82C5-19A7BBE7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1492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냉방 영향은 가설로 유지한다</a:t>
            </a:r>
          </a:p>
          <a:p xmlns:a="http://schemas.openxmlformats.org/drawingml/2006/main">
            <a:pPr>
              <a:defRPr sz="217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요일·생산상태·계절의 혼재 때문에 인과를 단정하지 않는다</a:t>
            </a:r>
          </a:p>
        </p:txBody>
      </p:sp>
    </p:spTree>
    <p:extLst>
      <p:ext uri="{BB962C8B-B14F-4D97-AF65-F5344CB8AC3E}">
        <p14:creationId xmlns:p14="http://schemas.microsoft.com/office/powerpoint/2010/main" val="197709390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592C31-12EA-4ADA-95E1-418BFB2AE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시간 이동은 총량을 보존해도 피크를 악화시킬 수 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32BE4-C273-4EB4-937B-0D423819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10   고정 이동비율10% / ±60분 · 실제 운영 검증이 아닌 조건부 계산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609600" y="1619250"/>
          <a:ext xmlns:a="http://schemas.openxmlformats.org/drawingml/2006/main" cx="10972800" cy="2476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14800"/>
                <a:gridCol w="3429000"/>
                <a:gridCol w="3429000"/>
              </a:tblGrid>
              <a:tr h="619125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평가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4~6월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7월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평균 일최대 감소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4.154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6.357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피크 악화일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 / 91일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 / 29일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기간 최대값 감소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-21.273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12.342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E93431-B260-41C4-877B-8A33554E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43425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전력과 생산 장부에 같은 이동행렬을 적용하면 총량은 보존</a:t>
            </a:r>
          </a:p>
          <a:p xmlns:a="http://schemas.openxmlformats.org/drawingml/2006/main">
            <a:pPr>
              <a:defRPr sz="2175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설비 제약·납기·생산 실현 가능성은 데이터로 확인할 수 없음</a:t>
            </a:r>
          </a:p>
        </p:txBody>
      </p:sp>
    </p:spTree>
    <p:extLst>
      <p:ext uri="{BB962C8B-B14F-4D97-AF65-F5344CB8AC3E}">
        <p14:creationId xmlns:p14="http://schemas.microsoft.com/office/powerpoint/2010/main" val="4375207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126C94-7E15-4EEC-A8A3-F818ECFF1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4월 2일: 예측이 낮은 시간으로 옮기며 새 피크를 만들었다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136DB9-0CC9-470C-BBAC-A14AF6451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11   출처: outputs/peak_v3/simulation/example_series.csv.gz · 원자료 단위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B38C68-F64D-4371-9D5D-1449FC01D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B34C3B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1">
                <a:solidFill>
                  <a:srgbClr val="B34C3B"/>
                </a:solidFill>
                <a:latin typeface="Malgun Gothic"/>
                <a:ea typeface="Malgun Gothic"/>
                <a:cs typeface="Malgun Gothic"/>
              </a:rPr>
              <a:t>실제 일최대 181 → 243.273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444430-5C7D-436B-B169-A6EC1496D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337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평균 저감량만으로 자동 일정 변경을 권고하지 않는다.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DEC76D-DE54-474B-8F95-BC9E77BF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005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실시간 계측과 설비별 이동 가능성·생산 제약이 필요하다.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FF411A-15D8-49CF-813D-414F15CE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작업자 점검 우선순위를 제공하고 현장 파일럿에서 확인한다.</a:t>
            </a:r>
          </a:p>
        </p:txBody>
      </p:sp>
    </p:spTree>
    <p:extLst>
      <p:ext uri="{BB962C8B-B14F-4D97-AF65-F5344CB8AC3E}">
        <p14:creationId xmlns:p14="http://schemas.microsoft.com/office/powerpoint/2010/main" val="34133421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1AD112-146D-474B-A8B4-4BCBB35F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요금 절감은 계약의 과거 최대수요와 인건비에 좌우된다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009BE-088E-4AE3-9D3E-033E4C348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12   2026 산업용(을) 고압A 선택I를 2021 부하에 가상 적용 · 실제 청구액 아님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09600" y="1543050"/>
          <a:ext xmlns:a="http://schemas.openxmlformats.org/drawingml/2006/main" cx="10972800" cy="2524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14800"/>
                <a:gridCol w="3429000"/>
                <a:gridCol w="3429000"/>
              </a:tblGrid>
              <a:tr h="631031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완전월 전기요금 감소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잔존200kW 가정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잔존250kW 가정</a:t>
                      </a:r>
                    </a:p>
                  </a:txBody>
                  <a:tcPr marL="91440" marR="91440" marT="45720" marB="45720">
                    <a:solidFill>
                      <a:srgbClr val="173B4F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4월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-308,794원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3,637원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5월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3,298원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3,298원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31031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6월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165,429원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73B4F"/>
                          </a:solidFill>
                          <a:latin typeface="Malgun Gothic"/>
                          <a:ea typeface="Malgun Gothic"/>
                          <a:cs typeface="Malgun Gothic"/>
                        </a:rPr>
                        <a:t>10,657원</a:t>
                      </a:r>
                    </a:p>
                  </a:txBody>
                  <a:tcPr marL="91440" marR="91440" marT="45720" marB="45720">
                    <a:solidFill>
                      <a:srgbClr val="F0F4F6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F17504-D9A3-4E85-AE4E-192918BF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2명 × 0.5시간 × 30일을 주간에서 야간으로 옮기면</a:t>
            </a:r>
          </a:p>
          <a:p xmlns:a="http://schemas.openxmlformats.org/drawingml/2006/main">
            <a:pPr>
              <a:defRPr sz="225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추가가산 195,000~240,000원 → 6월 절감보다 큼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E39FFC-8C3E-4125-86DE-6910B7505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91200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kW·계약300kW·노동조건은 가정. 7월은 결측일로 월 청구액 미산정.</a:t>
            </a:r>
          </a:p>
        </p:txBody>
      </p:sp>
    </p:spTree>
    <p:extLst>
      <p:ext uri="{BB962C8B-B14F-4D97-AF65-F5344CB8AC3E}">
        <p14:creationId xmlns:p14="http://schemas.microsoft.com/office/powerpoint/2010/main" val="44382978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4E7D6-8AD1-4884-B67B-C8ED97F1F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검증된 기여와 현장 적용 조건을 함께 제시한다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299AFE-DEDD-42AE-B6B6-A0D7DAC47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A6D78"/>
                </a:solidFill>
                <a:latin typeface="Malgun Gothic"/>
                <a:ea typeface="Malgun Gothic"/>
                <a:cs typeface="Malgun Gothic"/>
              </a:rPr>
              <a:t>13   코드·전체 지표·실패·재현 명령은 제출 ZIP에 포함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9EC3F8-A2F1-4F7F-B6F3-BBA5CAA79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기여: 전주 기준 대비 평균 MAE11.4%, 별도 일최대 MAE6.1% 감소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673EB-7CDC-458A-B930-6A51F05A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813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한계: 반복자료·검증 재사용·피크 재현율 교환관계·불확실성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6F5104-F08E-4F6D-9DA5-6EE4A9FF6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48100"/>
            <a:ext cx="10572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173B4F"/>
                </a:solidFill>
                <a:latin typeface="Malgun Gothic"/>
                <a:ea typeface="Malgun Gothic"/>
                <a:cs typeface="Malgun Gothic"/>
              </a:rPr>
              <a:t>현장 조건: 계측단위·설비 제약·생산 유지·계약·독립 검증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78E6D8-363F-4497-91AC-DA705BA5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43500"/>
            <a:ext cx="106680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재현: python -X utf8 run_submission.py all</a:t>
            </a:r>
          </a:p>
          <a:p xmlns:a="http://schemas.openxmlformats.org/drawingml/2006/main">
            <a:pPr>
              <a:defRPr sz="187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1D647F"/>
                </a:solidFill>
                <a:latin typeface="Malgun Gothic"/>
                <a:ea typeface="Malgun Gothic"/>
                <a:cs typeface="Malgun Gothic"/>
              </a:rPr>
              <a:t>제출 전: 실제 설문 완료 화면, 팀 정보와 서명 보완</a:t>
            </a:r>
          </a:p>
        </p:txBody>
      </p:sp>
    </p:spTree>
    <p:extLst>
      <p:ext uri="{BB962C8B-B14F-4D97-AF65-F5344CB8AC3E}">
        <p14:creationId xmlns:p14="http://schemas.microsoft.com/office/powerpoint/2010/main" val="4246308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2026-10-02T12:37:09.4590000Z</dcterms:created>
  <dcterms:modified xsi:type="dcterms:W3CDTF">2026-10-02T12:37:09.4590000Z</dcterms:modified>
</coreProperties>
</file>