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6554a55e614ccc" /><Relationship Type="http://schemas.openxmlformats.org/officeDocument/2006/relationships/extended-properties" Target="/docProps/app.xml" Id="R2a712019cf844f43" /><Relationship Type="http://schemas.openxmlformats.org/officeDocument/2006/relationships/officeDocument" Target="/ppt/presentation.xml" Id="Ra9d37538843e43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39fc3992444ac0"/>
  </p:sldMasterIdLst>
  <p:notesMasterIdLst>
    <p:notesMasterId xmlns:r="http://schemas.openxmlformats.org/officeDocument/2006/relationships" r:id="Rdbbdcb0ef06a4011"/>
  </p:notesMasterIdLst>
  <p:sldIdLst>
    <p:sldId xmlns:r="http://schemas.openxmlformats.org/officeDocument/2006/relationships" id="256" r:id="Rccd67f62a3cb46f2"/>
    <p:sldId xmlns:r="http://schemas.openxmlformats.org/officeDocument/2006/relationships" id="257" r:id="R7afc706f08ae41c9"/>
    <p:sldId xmlns:r="http://schemas.openxmlformats.org/officeDocument/2006/relationships" id="258" r:id="Rd18e9c7299fd4161"/>
    <p:sldId xmlns:r="http://schemas.openxmlformats.org/officeDocument/2006/relationships" id="259" r:id="Rb0a012a1436746a6"/>
    <p:sldId xmlns:r="http://schemas.openxmlformats.org/officeDocument/2006/relationships" id="260" r:id="R377fbc197dca4f85"/>
    <p:sldId xmlns:r="http://schemas.openxmlformats.org/officeDocument/2006/relationships" id="261" r:id="R96583f7904f344fe"/>
    <p:sldId xmlns:r="http://schemas.openxmlformats.org/officeDocument/2006/relationships" id="262" r:id="R8d0af820c0ba42c7"/>
    <p:sldId xmlns:r="http://schemas.openxmlformats.org/officeDocument/2006/relationships" id="263" r:id="Rcccd92ba3028400d"/>
    <p:sldId xmlns:r="http://schemas.openxmlformats.org/officeDocument/2006/relationships" id="264" r:id="Rec6a7ab7084a4912"/>
    <p:sldId xmlns:r="http://schemas.openxmlformats.org/officeDocument/2006/relationships" id="265" r:id="Rbc5836c8f2ad4962"/>
    <p:sldId xmlns:r="http://schemas.openxmlformats.org/officeDocument/2006/relationships" id="266" r:id="R9ecbf85114774c99"/>
    <p:sldId xmlns:r="http://schemas.openxmlformats.org/officeDocument/2006/relationships" id="267" r:id="R018f2999aa2e4c91"/>
    <p:sldId xmlns:r="http://schemas.openxmlformats.org/officeDocument/2006/relationships" id="268" r:id="R70fb6555b8de48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9125d7f8bb4f14" /><Relationship Type="http://schemas.openxmlformats.org/officeDocument/2006/relationships/slideMaster" Target="/ppt/slideMasters/slideMaster1.xml" Id="R9e39fc3992444ac0" /><Relationship Type="http://schemas.openxmlformats.org/officeDocument/2006/relationships/notesMaster" Target="/ppt/notesMasters/notesMaster1.xml" Id="Rdbbdcb0ef06a4011" /><Relationship Type="http://schemas.openxmlformats.org/officeDocument/2006/relationships/presProps" Target="/ppt/presProps.xml" Id="R272cd427ed8c4ce9" /><Relationship Type="http://schemas.openxmlformats.org/officeDocument/2006/relationships/tableStyles" Target="/ppt/tableStyles.xml" Id="R7266b69129c34978" /><Relationship Type="http://schemas.openxmlformats.org/officeDocument/2006/relationships/slide" Target="/ppt/slides/slide1.xml" Id="Rccd67f62a3cb46f2" /><Relationship Type="http://schemas.openxmlformats.org/officeDocument/2006/relationships/slide" Target="/ppt/slides/slide2.xml" Id="R7afc706f08ae41c9" /><Relationship Type="http://schemas.openxmlformats.org/officeDocument/2006/relationships/slide" Target="/ppt/slides/slide3.xml" Id="Rd18e9c7299fd4161" /><Relationship Type="http://schemas.openxmlformats.org/officeDocument/2006/relationships/slide" Target="/ppt/slides/slide4.xml" Id="Rb0a012a1436746a6" /><Relationship Type="http://schemas.openxmlformats.org/officeDocument/2006/relationships/slide" Target="/ppt/slides/slide5.xml" Id="R377fbc197dca4f85" /><Relationship Type="http://schemas.openxmlformats.org/officeDocument/2006/relationships/slide" Target="/ppt/slides/slide6.xml" Id="R96583f7904f344fe" /><Relationship Type="http://schemas.openxmlformats.org/officeDocument/2006/relationships/slide" Target="/ppt/slides/slide7.xml" Id="R8d0af820c0ba42c7" /><Relationship Type="http://schemas.openxmlformats.org/officeDocument/2006/relationships/slide" Target="/ppt/slides/slide8.xml" Id="Rcccd92ba3028400d" /><Relationship Type="http://schemas.openxmlformats.org/officeDocument/2006/relationships/slide" Target="/ppt/slides/slide9.xml" Id="Rec6a7ab7084a4912" /><Relationship Type="http://schemas.openxmlformats.org/officeDocument/2006/relationships/slide" Target="/ppt/slides/slide10.xml" Id="Rbc5836c8f2ad4962" /><Relationship Type="http://schemas.openxmlformats.org/officeDocument/2006/relationships/slide" Target="/ppt/slides/slide11.xml" Id="R9ecbf85114774c99" /><Relationship Type="http://schemas.openxmlformats.org/officeDocument/2006/relationships/slide" Target="/ppt/slides/slide12.xml" Id="R018f2999aa2e4c91" /><Relationship Type="http://schemas.openxmlformats.org/officeDocument/2006/relationships/slide" Target="/ppt/slides/slide13.xml" Id="R70fb6555b8de48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239cd82b014c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1249110adf46ed" /><Relationship Type="http://schemas.openxmlformats.org/officeDocument/2006/relationships/notesMaster" Target="/ppt/notesMasters/notesMaster1.xml" Id="R3418607a21ca4b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2300b3ce7b4bf8" /><Relationship Type="http://schemas.openxmlformats.org/officeDocument/2006/relationships/notesMaster" Target="/ppt/notesMasters/notesMaster1.xml" Id="Rf4f12f8569f64a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2672fb1c56430a" /><Relationship Type="http://schemas.openxmlformats.org/officeDocument/2006/relationships/notesMaster" Target="/ppt/notesMasters/notesMaster1.xml" Id="R3ed4949cbf754a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6a9d476c124f10" /><Relationship Type="http://schemas.openxmlformats.org/officeDocument/2006/relationships/notesMaster" Target="/ppt/notesMasters/notesMaster1.xml" Id="Re9931f3031b649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e007dcb7754638" /><Relationship Type="http://schemas.openxmlformats.org/officeDocument/2006/relationships/notesMaster" Target="/ppt/notesMasters/notesMaster1.xml" Id="Rc38c53f260f34d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572f6ff97a459c" /><Relationship Type="http://schemas.openxmlformats.org/officeDocument/2006/relationships/notesMaster" Target="/ppt/notesMasters/notesMaster1.xml" Id="R8b79cfe2688c4b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12928b5de346c1" /><Relationship Type="http://schemas.openxmlformats.org/officeDocument/2006/relationships/notesMaster" Target="/ppt/notesMasters/notesMaster1.xml" Id="R8bd8aa734a7a40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99536e813c4e00" /><Relationship Type="http://schemas.openxmlformats.org/officeDocument/2006/relationships/notesMaster" Target="/ppt/notesMasters/notesMaster1.xml" Id="R149d886fc52d43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cae5817a924df1" /><Relationship Type="http://schemas.openxmlformats.org/officeDocument/2006/relationships/notesMaster" Target="/ppt/notesMasters/notesMaster1.xml" Id="R0033a0bf204649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74cd2ad51a43f6" /><Relationship Type="http://schemas.openxmlformats.org/officeDocument/2006/relationships/notesMaster" Target="/ppt/notesMasters/notesMaster1.xml" Id="R61fa784b83184d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e071a353c84f9d" /><Relationship Type="http://schemas.openxmlformats.org/officeDocument/2006/relationships/notesMaster" Target="/ppt/notesMasters/notesMaster1.xml" Id="R56ee74923b9b4e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c4067527764dcd" /><Relationship Type="http://schemas.openxmlformats.org/officeDocument/2006/relationships/notesMaster" Target="/ppt/notesMasters/notesMaster1.xml" Id="Rba8b99c8e6374a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bc1c13e25b4855" /><Relationship Type="http://schemas.openxmlformats.org/officeDocument/2006/relationships/notesMaster" Target="/ppt/notesMasters/notesMaster1.xml" Id="R8e12b06763b742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⑤ | 일반국민·대학(원)생 부문 | 연구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기준: https://www.kamp-ai.kr/contestNoticeDetail?CPT_NOTICE_SEQ=28 . 보고서 6개 장과 docs/EVALUATION_TRACEABILITY.md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증거: outputs/data_audit.json, research_v4/pattern_overlap.csv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증거: check_peak_study.py · 미래 원자료 교란 시 특징 불변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outputs/research_v4/benchmark_scores.csv · 원자료 단위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4~6월 91일 · 평균곡선은 유지 · H6 고정 0.5 결합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outputs/peak_v4/H6/scores.csv · 4~6월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7/13·7/15 제외 29일 · 사후 진단, 설정 변경 없음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사후 연관성 분석 · 실제 미래 기온·생산량은 입력에 미사용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고정 이동비율10% / ±60분 · 실제 운영 검증이 아닌 조건부 계산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outputs/peak_v3/simulation/example_series.csv.gz · 원자료 단위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요금: 기후에너지환경부·한전 2026-03-13 붙임2 8쪽 https://www.mcee.go.kr/home/file/readDownloadFile.do?fileId=319782&amp;fileSeq=2 . 근로기준법56조 https://law.go.kr/LSW/lsLinkCommonInfo.do?chrClsCd=010202&amp;lsJoLnkSeq=1007688483 . 경제성은 사후 조건부 비교.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코드·전체 지표·실패·재현 명령은 제출 ZIP에 포함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69b30a0ad4b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0cc7f2b3d347af" /><Relationship Type="http://schemas.openxmlformats.org/officeDocument/2006/relationships/slideLayout" Target="/ppt/slideLayouts/slideLayout1.xml" Id="Reb44b46e83ba45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44b46e83ba45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dbf4942b44bf1" /><Relationship Type="http://schemas.openxmlformats.org/officeDocument/2006/relationships/notesSlide" Target="/ppt/notesSlides/notesSlide1.xml" Id="R607b47746d674a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03966c93840f9" /><Relationship Type="http://schemas.openxmlformats.org/officeDocument/2006/relationships/notesSlide" Target="/ppt/notesSlides/notesSlide2.xml" Id="Rebbc34103b5d4a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36ca99dc7414f" /><Relationship Type="http://schemas.openxmlformats.org/officeDocument/2006/relationships/notesSlide" Target="/ppt/notesSlides/notesSlide3.xml" Id="Re351262b5f6344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201fad08a4753" /><Relationship Type="http://schemas.openxmlformats.org/officeDocument/2006/relationships/notesSlide" Target="/ppt/notesSlides/notesSlide4.xml" Id="R8dc4caae5acd44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ab0f7028f4cdf" /><Relationship Type="http://schemas.openxmlformats.org/officeDocument/2006/relationships/notesSlide" Target="/ppt/notesSlides/notesSlide5.xml" Id="R725cf0f70f444b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d9381b5d9419d" /><Relationship Type="http://schemas.openxmlformats.org/officeDocument/2006/relationships/chart" Target="/ppt/slides/charts/chart1.xml" Id="R1cdfc9ab14274476" /><Relationship Type="http://schemas.openxmlformats.org/officeDocument/2006/relationships/chart" Target="/ppt/slides/charts/chart2.xml" Id="R382046a3c6914fa3" /><Relationship Type="http://schemas.openxmlformats.org/officeDocument/2006/relationships/notesSlide" Target="/ppt/notesSlides/notesSlide6.xml" Id="Rc36dbfd56b4149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47a2f45b74a54" /><Relationship Type="http://schemas.openxmlformats.org/officeDocument/2006/relationships/notesSlide" Target="/ppt/notesSlides/notesSlide7.xml" Id="Rda3dd8d7a22644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f5cb069fc42b2" /><Relationship Type="http://schemas.openxmlformats.org/officeDocument/2006/relationships/notesSlide" Target="/ppt/notesSlides/notesSlide8.xml" Id="R0538c3a6811f48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0113e1c5b42e6" /><Relationship Type="http://schemas.openxmlformats.org/officeDocument/2006/relationships/notesSlide" Target="/ppt/notesSlides/notesSlide9.xml" Id="Rf093c97dcd854b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94c47931045d3" /><Relationship Type="http://schemas.openxmlformats.org/officeDocument/2006/relationships/notesSlide" Target="/ppt/notesSlides/notesSlide10.xml" Id="R6733a8d2626841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aea7a2c184399" /><Relationship Type="http://schemas.openxmlformats.org/officeDocument/2006/relationships/notesSlide" Target="/ppt/notesSlides/notesSlide11.xml" Id="Ra3fee991613b41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86c6c26914176" /><Relationship Type="http://schemas.openxmlformats.org/officeDocument/2006/relationships/notesSlide" Target="/ppt/notesSlides/notesSlide12.xml" Id="R398bb4643ded4f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f83b4396e4dfe" /><Relationship Type="http://schemas.openxmlformats.org/officeDocument/2006/relationships/notesSlide" Target="/ppt/notesSlides/notesSlide13.xml" Id="R49e4e5a838fc459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Malgun Gothic"/>
                <a:ea typeface="Malgun Gothic"/>
                <a:cs typeface="Malgun Gothic"/>
              </a:rPr>
              <a:t>15분 평균 MAE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Malgun Gothic"/>
              <a:ea typeface="Malgun Gothic"/>
              <a:cs typeface="Malgun Gothi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15분 평균 MAE</c:v>
          </c:tx>
          <c:spPr>
            <a:solidFill xmlns:a="http://schemas.openxmlformats.org/drawingml/2006/main">
              <a:srgbClr val="1D647F"/>
            </a:solidFill>
          </c:spPr>
          <c:cat>
            <c:strRef>
              <c:f>'Chart Data'!$A$2:$A$3</c:f>
              <c:strCache>
                <c:ptCount val="2"/>
                <c:pt idx="0">
                  <c:v>전주 기준</c:v>
                </c:pt>
                <c:pt idx="1">
                  <c:v>최종 구간 결합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19.083333</c:v>
                </c:pt>
                <c:pt idx="1">
                  <c:v>16.910845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Malgun Gothic"/>
                <a:ea typeface="Malgun Gothic"/>
                <a:cs typeface="Malgun Gothic"/>
              </a:rPr>
              <a:t>일최대 MAE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Malgun Gothic"/>
              <a:ea typeface="Malgun Gothic"/>
              <a:cs typeface="Malgun Gothi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일최대 MAE</c:v>
          </c:tx>
          <c:spPr>
            <a:solidFill xmlns:a="http://schemas.openxmlformats.org/drawingml/2006/main">
              <a:srgbClr val="1D647F"/>
            </a:solidFill>
          </c:spPr>
          <c:cat>
            <c:strRef>
              <c:f>'Chart Data'!$A$2:$A$4</c:f>
              <c:strCache>
                <c:ptCount val="3"/>
                <c:pt idx="0">
                  <c:v>전주 기준</c:v>
                </c:pt>
                <c:pt idx="1">
                  <c:v>곡선 최대</c:v>
                </c:pt>
                <c:pt idx="2">
                  <c:v>별도 최대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18.923077</c:v>
                </c:pt>
                <c:pt idx="1">
                  <c:v>19.992784</c:v>
                </c:pt>
                <c:pt idx="2">
                  <c:v>17.771216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AD507-D25E-4319-B1AD-0D96F3D9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평균 전력과 일최대 위험을 함께 예측하다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06EB1-867E-4457-81EA-ADA585D7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1   과제 ⑤ | 일반국민·대학(원)생 부문 | 연구 초안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62DB6-E1E8-4D69-AF58-42EF9B8F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생산기록 문맥을 활용한 15분 예측과</a:t>
            </a:r>
          </a:p>
          <a:p xmlns:a="http://schemas.openxmlformats.org/drawingml/2006/main">
            <a:pPr>
              <a:defRPr sz="36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별도 일최대 추정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CC773-90C0-4DC0-9B73-9291B85F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00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4~6월 평균 MAE 11.4% 감소</a:t>
            </a:r>
          </a:p>
          <a:p xmlns:a="http://schemas.openxmlformats.org/drawingml/2006/main">
            <a:pPr>
              <a:defRPr sz="28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별도 일최대 MAE 6.1% 감소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5BBDF-6E43-4DF1-9BEA-806F38CA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전주 기준 대비 관측값 · 새 독립기간의 우위는 미확정</a:t>
            </a:r>
          </a:p>
        </p:txBody>
      </p:sp>
    </p:spTree>
    <p:extLst>
      <p:ext uri="{BB962C8B-B14F-4D97-AF65-F5344CB8AC3E}">
        <p14:creationId xmlns:p14="http://schemas.microsoft.com/office/powerpoint/2010/main" val="2051644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6A879-28DF-4CEE-BEE7-E887B893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공식 과제의 세 질문에 답한다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5CEAD-49F0-4756-9650-ADC29B3B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2   출처: KAMP 2026-09-22 수정 공지, 과제⑤ 및 서면평가표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8EA8A-7B21-4707-8E13-61A02C84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1. 다음 날 전력사용량을 얼마나 잘 예측하는가?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D0E5A-0277-4873-B3BC-A8F22822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2. 언제 오차가 크고, 언제 최대피크가 발생하는가?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6A572-BF38-482F-AD5F-8DF91038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3. 생산 제약을 지키며 부하를 옮기면 어떤 결과가 나는가?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55090-E1AA-4075-98F2-9C51BCF0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평가 배점 15 / 40 / 15 / 10 / 10 / 10점에 맞춰 증거를 연결</a:t>
            </a:r>
          </a:p>
        </p:txBody>
      </p:sp>
    </p:spTree>
    <p:extLst>
      <p:ext uri="{BB962C8B-B14F-4D97-AF65-F5344CB8AC3E}">
        <p14:creationId xmlns:p14="http://schemas.microsoft.com/office/powerpoint/2010/main" val="249350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F26B3-050A-41A6-A39A-5D893E52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데이터의 반복과 계측 한계를 먼저 확인했다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4EA7D-C173-47AF-9A8F-4F6F47AC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3   증거: outputs/data_audit.json, research_v4/pattern_overlap.csv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905250"/>
                <a:gridCol w="4400550"/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계측 범위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검증한 사실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해석의 한계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257일 / 6,168행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24,672개 15분 구간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 단위는 미확인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142개 고유 일패턴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160일이 반복 그룹에 포함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독립 표본 가정에 주의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7/13·7/15 시간 오류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2일 정답·전력 이력 제외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 순서 복원은 가정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생산·공장인원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단위, 인원 소수값 존재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설비 가동·이동 가능성 미확인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E334A-027B-4830-BBB4-62C7F443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공식 재다운로드 CSV와 원자료 SHA256 일치</a:t>
            </a:r>
          </a:p>
        </p:txBody>
      </p:sp>
    </p:spTree>
    <p:extLst>
      <p:ext uri="{BB962C8B-B14F-4D97-AF65-F5344CB8AC3E}">
        <p14:creationId xmlns:p14="http://schemas.microsoft.com/office/powerpoint/2010/main" val="1831897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0405A-DF54-4063-835E-4FA52819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D-1 16시 이후의 실측 정보는 입력하지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52F7B-216A-4944-B908-8C0986BE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4   증거: check_peak_study.py · 미래 원자료 교란 시 특징 불변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가능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금지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 끝난 전력 구간과 과거 생산 문맥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날 실측 기온·생산량·전력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달력 / 2·7·14일 lag / 최근 통계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검증일 실제 생산상태로 전문가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4~6월 월별 expanding validation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7월 결과에 맞춘 설정 재조정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D5CB8-92BF-4620-99CB-BEFCA469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검증 91일 / 8,736구간 · 7월은 사후 진단 29일</a:t>
            </a:r>
          </a:p>
          <a:p xmlns:a="http://schemas.openxmlformats.org/drawingml/2006/main">
            <a:pPr>
              <a:defRPr sz="202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8~9월은 이미 사용된 역사적 테스트이며 새 독립 검증이 아님</a:t>
            </a:r>
          </a:p>
        </p:txBody>
      </p:sp>
    </p:spTree>
    <p:extLst>
      <p:ext uri="{BB962C8B-B14F-4D97-AF65-F5344CB8AC3E}">
        <p14:creationId xmlns:p14="http://schemas.microsoft.com/office/powerpoint/2010/main" val="3585804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D0241-6BDD-4DD9-81E0-7DEC2228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같은 시간 조건에서 모델과 피처를 비교했다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288DB-B669-422D-9CDF-35FD00DC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5   출처: outputs/research_v4/benchmark_scores.csv · 원자료 단위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2286000"/>
                <a:gridCol w="2286000"/>
                <a:gridCol w="3028950"/>
              </a:tblGrid>
              <a:tr h="5633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평균 MAE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RMSE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곡선 일최대 MAE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전주 기준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19.083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37.978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18.923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Ridge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31.685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43.062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34.469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ExtraTrees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19.602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29.668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24.645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LGB 단일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20.265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32.840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24.056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혼합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17.361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28.555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19.674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구간 결합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16.911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33.011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19.993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11720-44B9-4C93-8882-5C9173A6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과거 문맥과 상태 결합이 평균 예측에 기여했다</a:t>
            </a:r>
          </a:p>
        </p:txBody>
      </p:sp>
    </p:spTree>
    <p:extLst>
      <p:ext uri="{BB962C8B-B14F-4D97-AF65-F5344CB8AC3E}">
        <p14:creationId xmlns:p14="http://schemas.microsoft.com/office/powerpoint/2010/main" val="518761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339C0-1B59-46D5-8587-3B4AB155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평균 곡선과 일최대 추정의 역할을 분리했다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AE7C6-1B1F-4AD1-97B4-3BA10B18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6   4~6월 91일 · 평균곡선은 유지 · H6 고정 0.5 결합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23875" y="1571625"/>
          <a:ext xmlns:a="http://schemas.openxmlformats.org/drawingml/2006/main" cx="52959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dfc9ab14274476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0" y="1571625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2046a3c6914fa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971F2-92A0-497B-9D52-EF374A3B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별도 일최대 = (결합 곡선 최대 + 전주 곡선 최대) /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E044A-6D28-4A64-8B16-43880556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96구간 곡선의 최대값과 별도 출력은 서로 다를 수 있음</a:t>
            </a:r>
          </a:p>
        </p:txBody>
      </p:sp>
    </p:spTree>
    <p:extLst>
      <p:ext uri="{BB962C8B-B14F-4D97-AF65-F5344CB8AC3E}">
        <p14:creationId xmlns:p14="http://schemas.microsoft.com/office/powerpoint/2010/main" val="1536907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31AA4-4687-450A-B5D9-AC81934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피크 탐지는 개선됐지만 전주 기준과 교환관계가 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306BC-D854-474D-B00C-B9644602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7   출처: outputs/peak_v4/H6/scores.csv · 4~6월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00400"/>
                <a:gridCol w="2590800"/>
                <a:gridCol w="2590800"/>
                <a:gridCol w="259080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 단위 지표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전주 기준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결합 곡선 최대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일최대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재현율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72.7%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29.5%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52.3%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정밀도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69.6%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0.711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0.413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0.622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미탐 / 오경보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 / 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 / 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 / 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BCAFB-A1D2-41CA-97F1-21BECFCD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4~6월 일최대 MAE 차이(별도-전주): -1.152</a:t>
            </a:r>
          </a:p>
          <a:p xmlns:a="http://schemas.openxmlformats.org/drawingml/2006/main">
            <a:pPr>
              <a:defRPr sz="195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95% bootstrap 구간 [-3.778, 0.991] · 통계적 우위 확정 불가</a:t>
            </a:r>
          </a:p>
        </p:txBody>
      </p:sp>
    </p:spTree>
    <p:extLst>
      <p:ext uri="{BB962C8B-B14F-4D97-AF65-F5344CB8AC3E}">
        <p14:creationId xmlns:p14="http://schemas.microsoft.com/office/powerpoint/2010/main" val="16808184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56FB7-8755-4727-9CD5-60C2E2C3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7월: 평균오차 감소와 피크 탐지를 함께 확인했다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2F6BF-8100-4D51-B2F8-35C802FA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8   7/13·7/15 제외 29일 · 사후 진단, 설정 변경 없음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0"/>
                <a:gridCol w="3429000"/>
                <a:gridCol w="342900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7월 지표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전주 기준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구성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15분 MAE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12.177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10.552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15분 RMSE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26.381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17.007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일최대 MAE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16.621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17.483 (별도 출력)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피크일 재현율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95.0% (별도 출력)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구간 피크 재현율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63.8%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36.4% (곡선)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0125B-76DE-4261-9B05-887B7BF1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별도 출력은 기존 결합의 일최대 MAE 20.438을 낮췄다</a:t>
            </a:r>
          </a:p>
        </p:txBody>
      </p:sp>
    </p:spTree>
    <p:extLst>
      <p:ext uri="{BB962C8B-B14F-4D97-AF65-F5344CB8AC3E}">
        <p14:creationId xmlns:p14="http://schemas.microsoft.com/office/powerpoint/2010/main" val="17379985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57B0B-9244-4D7E-BF18-9125F0D9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7월의 고온·생산기록·시간대가 오류와 함께 변했다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E9199-4C53-4F61-A59D-1CBD9D69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9   사후 연관성 분석 · 실제 미래 기온·생산량은 입력에 미사용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19450"/>
                <a:gridCol w="3352800"/>
                <a:gridCol w="4400550"/>
              </a:tblGrid>
              <a:tr h="6438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 결과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30°C 초과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256구간 / 12일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MAE16.153, 편향 -11.090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생산기록 양수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1,764구간 / 24일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피크442개 중437개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10~17시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812구간 / 29일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피크297개 중197개 미탐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기온 +2°C 초과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단1일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효과를 일반화할 근거 부족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D7191-A5C1-4994-A295-E603661C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냉방 영향은 가설로 유지한다</a:t>
            </a:r>
          </a:p>
          <a:p xmlns:a="http://schemas.openxmlformats.org/drawingml/2006/main">
            <a:pPr>
              <a:defRPr sz="21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요일·생산상태·계절의 혼재 때문에 인과를 단정하지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18936306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40E18-948C-463F-BA81-F5FD8604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시간 이동은 총량을 보존해도 피크를 악화시킬 수 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62758-48C3-413E-964B-A5515BEA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10   고정 이동비율10% / ±60분 · 실제 운영 검증이 아닌 조건부 계산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0"/>
                <a:gridCol w="3429000"/>
                <a:gridCol w="342900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4~6월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7월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평균 일최대 감소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4.154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6.357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피크 악화일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 / 91일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/ 29일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 최대값 감소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-21.273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12.342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05ABD-EEDD-44A6-B03F-4EFB2ED9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전력과 생산 장부에 같은 이동행렬을 적용하면 총량은 보존</a:t>
            </a:r>
          </a:p>
          <a:p xmlns:a="http://schemas.openxmlformats.org/drawingml/2006/main">
            <a:pPr>
              <a:defRPr sz="217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설비 제약·납기·생산 실현 가능성은 데이터로 확인할 수 없음</a:t>
            </a:r>
          </a:p>
        </p:txBody>
      </p:sp>
    </p:spTree>
    <p:extLst>
      <p:ext uri="{BB962C8B-B14F-4D97-AF65-F5344CB8AC3E}">
        <p14:creationId xmlns:p14="http://schemas.microsoft.com/office/powerpoint/2010/main" val="7579828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94B03-8F09-463F-B67B-E29D5FD9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4월 2일: 예측이 낮은 시간으로 옮기며 새 피크를 만들었다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0F5DA-2B6F-47FC-94D8-05285A0D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11   출처: outputs/peak_v3/simulation/example_series.csv.gz · 원자료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32AD0-6CD9-4EC0-AB3F-18BEF214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B34C3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B34C3B"/>
                </a:solidFill>
                <a:latin typeface="Malgun Gothic"/>
                <a:ea typeface="Malgun Gothic"/>
                <a:cs typeface="Malgun Gothic"/>
              </a:rPr>
              <a:t>실제 일최대 181 → 243.273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9CD41-017B-4BBA-AD40-82ED2CA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평균 저감량만으로 자동 일정 변경을 권고하지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B2050-4822-4900-9BEB-6FCBC0D2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실시간 계측과 설비별 이동 가능성·생산 제약이 필요하다.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281E8-19FC-4CB4-B713-9768FF94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작업자 점검 우선순위를 제공하고 현장 파일럿에서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8394024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D8008-CC93-40D8-9D13-39025CC4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요금 절감은 계약의 과거 최대수요와 인건비에 좌우된다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A3B6F-9B8B-49FB-B58D-C01A2206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12   2026 산업용(을) 고압A 선택I를 2021 부하에 가상 적용 · 실제 청구액 아님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0"/>
                <a:gridCol w="3429000"/>
                <a:gridCol w="3429000"/>
              </a:tblGrid>
              <a:tr h="63103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완전월 전기요금 감소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잔존200kW 가정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잔존250kW 가정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4월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-308,794원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3,637원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3,298원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3,298원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6월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165,429원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10,657원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117B2-A546-4B27-9401-22FB4929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2명 × 0.5시간 × 30일을 주간에서 야간으로 옮기면</a:t>
            </a:r>
          </a:p>
          <a:p xmlns:a="http://schemas.openxmlformats.org/drawingml/2006/main">
            <a:pPr>
              <a:defRPr sz="22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추가가산 195,000~240,000원 → 6월 절감보다 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77F51-03DE-4C86-9BBC-93241F10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kW·계약300kW·노동조건은 가정. 7월은 결측일로 월 청구액 미산정.</a:t>
            </a:r>
          </a:p>
        </p:txBody>
      </p:sp>
    </p:spTree>
    <p:extLst>
      <p:ext uri="{BB962C8B-B14F-4D97-AF65-F5344CB8AC3E}">
        <p14:creationId xmlns:p14="http://schemas.microsoft.com/office/powerpoint/2010/main" val="1258560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FE906-DBAF-4DB3-AC88-9519BFFD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검증된 기여와 현장 적용 조건을 함께 제시한다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4C309-E146-4E18-90FB-FDBE4A12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13   코드·전체 지표·실패·재현 명령은 제출 ZIP에 포함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24C5D-4AF2-4446-B2B7-8A31CAAB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기여: 전주 기준 대비 평균 MAE11.4%, 별도 일최대 MAE6.1% 감소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20E85-06DD-4D98-81EB-62F9FB7D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한계: 반복자료·검증 재사용·피크 재현율 교환관계·불확실성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2B536-A073-474B-BB1D-5C652371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현장 조건: 계측단위·설비 제약·생산 유지·계약·독립 검증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904E6-4115-4079-ADB1-55B1FAC5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재현: python -X utf8 run_submission.py all</a:t>
            </a:r>
          </a:p>
          <a:p xmlns:a="http://schemas.openxmlformats.org/drawingml/2006/main">
            <a:pPr>
              <a:defRPr sz="18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제출 전: 실제 설문 완료 화면, 팀 정보와 서명 보완</a:t>
            </a:r>
          </a:p>
        </p:txBody>
      </p:sp>
    </p:spTree>
    <p:extLst>
      <p:ext uri="{BB962C8B-B14F-4D97-AF65-F5344CB8AC3E}">
        <p14:creationId xmlns:p14="http://schemas.microsoft.com/office/powerpoint/2010/main" val="101875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2026-10-02T12:23:34.7550000Z</dcterms:created>
  <dcterms:modified xsi:type="dcterms:W3CDTF">2026-10-02T12:23:34.7550000Z</dcterms:modified>
</coreProperties>
</file>